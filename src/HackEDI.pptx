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63"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03" d="100"/>
          <a:sy n="103" d="100"/>
        </p:scale>
        <p:origin x="200"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4B88FB-CC9E-734D-8636-1C68B21733FA}" type="datetimeFigureOut">
              <a:rPr lang="en-US" smtClean="0"/>
              <a:t>4/27/26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521B30-3B83-3D45-A751-EFE796C440A3}" type="slidenum">
              <a:rPr lang="en-US" smtClean="0"/>
              <a:t>‹#›</a:t>
            </a:fld>
            <a:endParaRPr lang="en-US"/>
          </a:p>
        </p:txBody>
      </p:sp>
    </p:spTree>
    <p:extLst>
      <p:ext uri="{BB962C8B-B14F-4D97-AF65-F5344CB8AC3E}">
        <p14:creationId xmlns:p14="http://schemas.microsoft.com/office/powerpoint/2010/main" val="1669855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InterSystems-based platforms generate a large volume of event logs that capture critical operational, technical, and business-level information. These logs include service failures, warning messages, connectivity issues, message backlogs, and system health indicators. While this data is extremely valuable, it is often difficult for operations and support teams to efficiently extract actionable insights from it. Log entries are typically verbose, technical, and distributed across time, making manual analysis slow and error-prone. Teams frequently need deep InterSystems expertise to interpret patterns, understand dependencies between services, and identify the true root cause of incidents. As a result, mean time to detect (MTTD) and mean time to resolve (MTTR) incidents can increase significantly, impacting business continuity and service-level agreements. Additionally, traditional monitoring tools often focus on alerts rather than conversational understanding, forcing users to switch between dashboards, documentation, and command-line tools. There is a clear need for a more intuitive, conversational, and intelligent interface that allows users to ask natural language questions, quickly understand what is happening in the system, and take corrective action without deep technical overhead. Addressing these challenges forms the foundation for the proposed Streamlit-based chatbot solution.</a:t>
            </a:r>
          </a:p>
        </p:txBody>
      </p:sp>
      <p:sp>
        <p:nvSpPr>
          <p:cNvPr id="4" name="Slide Number Placeholder 3"/>
          <p:cNvSpPr>
            <a:spLocks noGrp="1"/>
          </p:cNvSpPr>
          <p:nvPr>
            <p:ph type="sldNum" sz="quarter" idx="5"/>
          </p:nvPr>
        </p:nvSpPr>
        <p:spPr/>
        <p:txBody>
          <a:bodyPr/>
          <a:lstStyle/>
          <a:p>
            <a:fld id="{F209F45C-F4E9-49E1-A313-F09FEA2865CE}" type="slidenum">
              <a:t>2</a:t>
            </a:fld>
            <a:endParaRPr lang="en-US"/>
          </a:p>
        </p:txBody>
      </p:sp>
    </p:spTree>
    <p:extLst>
      <p:ext uri="{BB962C8B-B14F-4D97-AF65-F5344CB8AC3E}">
        <p14:creationId xmlns:p14="http://schemas.microsoft.com/office/powerpoint/2010/main" val="861408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D8A99-8663-BB32-5E75-0970B93C66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1EF66-2339-B53B-E9DB-0A5FF60F0E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365A8E-48DF-2CE0-6B36-B92AF211E44E}"/>
              </a:ext>
            </a:extLst>
          </p:cNvPr>
          <p:cNvSpPr>
            <a:spLocks noGrp="1"/>
          </p:cNvSpPr>
          <p:nvPr>
            <p:ph type="dt" sz="half" idx="10"/>
          </p:nvPr>
        </p:nvSpPr>
        <p:spPr/>
        <p:txBody>
          <a:bodyPr/>
          <a:lstStyle/>
          <a:p>
            <a:fld id="{F8CAC641-86BF-F640-BFF9-606C4EF4C2F6}" type="datetimeFigureOut">
              <a:rPr lang="en-US" smtClean="0"/>
              <a:t>4/27/26</a:t>
            </a:fld>
            <a:endParaRPr lang="en-US"/>
          </a:p>
        </p:txBody>
      </p:sp>
      <p:sp>
        <p:nvSpPr>
          <p:cNvPr id="5" name="Footer Placeholder 4">
            <a:extLst>
              <a:ext uri="{FF2B5EF4-FFF2-40B4-BE49-F238E27FC236}">
                <a16:creationId xmlns:a16="http://schemas.microsoft.com/office/drawing/2014/main" id="{A146B327-FA5B-92F7-F35E-FDD9628077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CA561F-1088-9709-B031-E57B41875109}"/>
              </a:ext>
            </a:extLst>
          </p:cNvPr>
          <p:cNvSpPr>
            <a:spLocks noGrp="1"/>
          </p:cNvSpPr>
          <p:nvPr>
            <p:ph type="sldNum" sz="quarter" idx="12"/>
          </p:nvPr>
        </p:nvSpPr>
        <p:spPr/>
        <p:txBody>
          <a:bodyPr/>
          <a:lstStyle/>
          <a:p>
            <a:fld id="{6C8686A4-B3E5-9B4A-A3CC-AA505A8A339B}" type="slidenum">
              <a:rPr lang="en-US" smtClean="0"/>
              <a:t>‹#›</a:t>
            </a:fld>
            <a:endParaRPr lang="en-US"/>
          </a:p>
        </p:txBody>
      </p:sp>
    </p:spTree>
    <p:extLst>
      <p:ext uri="{BB962C8B-B14F-4D97-AF65-F5344CB8AC3E}">
        <p14:creationId xmlns:p14="http://schemas.microsoft.com/office/powerpoint/2010/main" val="1023190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8D5A2-7C7F-11B7-A4D7-33AA40856A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4F796F-70D7-0835-2548-51D960CC38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492C6C-258D-95CA-0C6E-E87D50EE989C}"/>
              </a:ext>
            </a:extLst>
          </p:cNvPr>
          <p:cNvSpPr>
            <a:spLocks noGrp="1"/>
          </p:cNvSpPr>
          <p:nvPr>
            <p:ph type="dt" sz="half" idx="10"/>
          </p:nvPr>
        </p:nvSpPr>
        <p:spPr/>
        <p:txBody>
          <a:bodyPr/>
          <a:lstStyle/>
          <a:p>
            <a:fld id="{F8CAC641-86BF-F640-BFF9-606C4EF4C2F6}" type="datetimeFigureOut">
              <a:rPr lang="en-US" smtClean="0"/>
              <a:t>4/27/26</a:t>
            </a:fld>
            <a:endParaRPr lang="en-US"/>
          </a:p>
        </p:txBody>
      </p:sp>
      <p:sp>
        <p:nvSpPr>
          <p:cNvPr id="5" name="Footer Placeholder 4">
            <a:extLst>
              <a:ext uri="{FF2B5EF4-FFF2-40B4-BE49-F238E27FC236}">
                <a16:creationId xmlns:a16="http://schemas.microsoft.com/office/drawing/2014/main" id="{91C5E335-9301-012E-883F-CA37837B52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328199-70CD-FBC0-D3FC-4557E84A026A}"/>
              </a:ext>
            </a:extLst>
          </p:cNvPr>
          <p:cNvSpPr>
            <a:spLocks noGrp="1"/>
          </p:cNvSpPr>
          <p:nvPr>
            <p:ph type="sldNum" sz="quarter" idx="12"/>
          </p:nvPr>
        </p:nvSpPr>
        <p:spPr/>
        <p:txBody>
          <a:bodyPr/>
          <a:lstStyle/>
          <a:p>
            <a:fld id="{6C8686A4-B3E5-9B4A-A3CC-AA505A8A339B}" type="slidenum">
              <a:rPr lang="en-US" smtClean="0"/>
              <a:t>‹#›</a:t>
            </a:fld>
            <a:endParaRPr lang="en-US"/>
          </a:p>
        </p:txBody>
      </p:sp>
    </p:spTree>
    <p:extLst>
      <p:ext uri="{BB962C8B-B14F-4D97-AF65-F5344CB8AC3E}">
        <p14:creationId xmlns:p14="http://schemas.microsoft.com/office/powerpoint/2010/main" val="3412990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FA3B8-C204-D7C5-FDB0-4AB9F32C58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08FCDA-C5E5-8BD6-4F6A-FE61005E5E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2B7EEE-DFAB-E603-EF33-5C8F8A6CA17D}"/>
              </a:ext>
            </a:extLst>
          </p:cNvPr>
          <p:cNvSpPr>
            <a:spLocks noGrp="1"/>
          </p:cNvSpPr>
          <p:nvPr>
            <p:ph type="dt" sz="half" idx="10"/>
          </p:nvPr>
        </p:nvSpPr>
        <p:spPr/>
        <p:txBody>
          <a:bodyPr/>
          <a:lstStyle/>
          <a:p>
            <a:fld id="{F8CAC641-86BF-F640-BFF9-606C4EF4C2F6}" type="datetimeFigureOut">
              <a:rPr lang="en-US" smtClean="0"/>
              <a:t>4/27/26</a:t>
            </a:fld>
            <a:endParaRPr lang="en-US"/>
          </a:p>
        </p:txBody>
      </p:sp>
      <p:sp>
        <p:nvSpPr>
          <p:cNvPr id="5" name="Footer Placeholder 4">
            <a:extLst>
              <a:ext uri="{FF2B5EF4-FFF2-40B4-BE49-F238E27FC236}">
                <a16:creationId xmlns:a16="http://schemas.microsoft.com/office/drawing/2014/main" id="{E0FD036C-0233-BCD9-82B7-E17B94F304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07952C-E5C1-1E1E-ABF5-70877E6C2E41}"/>
              </a:ext>
            </a:extLst>
          </p:cNvPr>
          <p:cNvSpPr>
            <a:spLocks noGrp="1"/>
          </p:cNvSpPr>
          <p:nvPr>
            <p:ph type="sldNum" sz="quarter" idx="12"/>
          </p:nvPr>
        </p:nvSpPr>
        <p:spPr/>
        <p:txBody>
          <a:bodyPr/>
          <a:lstStyle/>
          <a:p>
            <a:fld id="{6C8686A4-B3E5-9B4A-A3CC-AA505A8A339B}" type="slidenum">
              <a:rPr lang="en-US" smtClean="0"/>
              <a:t>‹#›</a:t>
            </a:fld>
            <a:endParaRPr lang="en-US"/>
          </a:p>
        </p:txBody>
      </p:sp>
    </p:spTree>
    <p:extLst>
      <p:ext uri="{BB962C8B-B14F-4D97-AF65-F5344CB8AC3E}">
        <p14:creationId xmlns:p14="http://schemas.microsoft.com/office/powerpoint/2010/main" val="3572027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E21FC-36D5-51E1-D553-0CFE3FA8BF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8BB9A7-BF65-EFC9-6D04-4E479E53B8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F4D3A4-F134-BB85-281C-1F9C070224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CA244D-85D5-185D-C768-8954E9E0CF9A}"/>
              </a:ext>
            </a:extLst>
          </p:cNvPr>
          <p:cNvSpPr>
            <a:spLocks noGrp="1"/>
          </p:cNvSpPr>
          <p:nvPr>
            <p:ph type="dt" sz="half" idx="10"/>
          </p:nvPr>
        </p:nvSpPr>
        <p:spPr/>
        <p:txBody>
          <a:bodyPr/>
          <a:lstStyle/>
          <a:p>
            <a:fld id="{F8CAC641-86BF-F640-BFF9-606C4EF4C2F6}" type="datetimeFigureOut">
              <a:rPr lang="en-US" smtClean="0"/>
              <a:t>4/27/26</a:t>
            </a:fld>
            <a:endParaRPr lang="en-US"/>
          </a:p>
        </p:txBody>
      </p:sp>
      <p:sp>
        <p:nvSpPr>
          <p:cNvPr id="6" name="Footer Placeholder 5">
            <a:extLst>
              <a:ext uri="{FF2B5EF4-FFF2-40B4-BE49-F238E27FC236}">
                <a16:creationId xmlns:a16="http://schemas.microsoft.com/office/drawing/2014/main" id="{FF81C025-74E7-9D6D-EF24-F869F98579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4E49A4-AD47-1F87-1ED7-6E2C5AFB05D4}"/>
              </a:ext>
            </a:extLst>
          </p:cNvPr>
          <p:cNvSpPr>
            <a:spLocks noGrp="1"/>
          </p:cNvSpPr>
          <p:nvPr>
            <p:ph type="sldNum" sz="quarter" idx="12"/>
          </p:nvPr>
        </p:nvSpPr>
        <p:spPr/>
        <p:txBody>
          <a:bodyPr/>
          <a:lstStyle/>
          <a:p>
            <a:fld id="{6C8686A4-B3E5-9B4A-A3CC-AA505A8A339B}" type="slidenum">
              <a:rPr lang="en-US" smtClean="0"/>
              <a:t>‹#›</a:t>
            </a:fld>
            <a:endParaRPr lang="en-US"/>
          </a:p>
        </p:txBody>
      </p:sp>
    </p:spTree>
    <p:extLst>
      <p:ext uri="{BB962C8B-B14F-4D97-AF65-F5344CB8AC3E}">
        <p14:creationId xmlns:p14="http://schemas.microsoft.com/office/powerpoint/2010/main" val="3780938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52C48-3C83-D1EB-298E-2581B504B3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9FA8DE-C767-3CCE-AE2F-AFC7BF4CBC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F89A69-2AAA-8BEB-DA3C-B4783A377B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077D6E-51C0-1C04-A899-9CDB4FA85B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223621-520C-0ACC-AF59-2DDE1345E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088C3D-D089-3F30-6BC5-E72DAD20AC54}"/>
              </a:ext>
            </a:extLst>
          </p:cNvPr>
          <p:cNvSpPr>
            <a:spLocks noGrp="1"/>
          </p:cNvSpPr>
          <p:nvPr>
            <p:ph type="dt" sz="half" idx="10"/>
          </p:nvPr>
        </p:nvSpPr>
        <p:spPr/>
        <p:txBody>
          <a:bodyPr/>
          <a:lstStyle/>
          <a:p>
            <a:fld id="{F8CAC641-86BF-F640-BFF9-606C4EF4C2F6}" type="datetimeFigureOut">
              <a:rPr lang="en-US" smtClean="0"/>
              <a:t>4/27/26</a:t>
            </a:fld>
            <a:endParaRPr lang="en-US"/>
          </a:p>
        </p:txBody>
      </p:sp>
      <p:sp>
        <p:nvSpPr>
          <p:cNvPr id="8" name="Footer Placeholder 7">
            <a:extLst>
              <a:ext uri="{FF2B5EF4-FFF2-40B4-BE49-F238E27FC236}">
                <a16:creationId xmlns:a16="http://schemas.microsoft.com/office/drawing/2014/main" id="{BC978446-9BE2-BFEC-0A6C-053A61278E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6BF021F-A00F-1EF8-7606-41DCD4AEEBD2}"/>
              </a:ext>
            </a:extLst>
          </p:cNvPr>
          <p:cNvSpPr>
            <a:spLocks noGrp="1"/>
          </p:cNvSpPr>
          <p:nvPr>
            <p:ph type="sldNum" sz="quarter" idx="12"/>
          </p:nvPr>
        </p:nvSpPr>
        <p:spPr/>
        <p:txBody>
          <a:bodyPr/>
          <a:lstStyle/>
          <a:p>
            <a:fld id="{6C8686A4-B3E5-9B4A-A3CC-AA505A8A339B}" type="slidenum">
              <a:rPr lang="en-US" smtClean="0"/>
              <a:t>‹#›</a:t>
            </a:fld>
            <a:endParaRPr lang="en-US"/>
          </a:p>
        </p:txBody>
      </p:sp>
    </p:spTree>
    <p:extLst>
      <p:ext uri="{BB962C8B-B14F-4D97-AF65-F5344CB8AC3E}">
        <p14:creationId xmlns:p14="http://schemas.microsoft.com/office/powerpoint/2010/main" val="3331345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486E8-BB24-74EE-08CA-7AAF772E04C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9EEC0D-EC87-AAAE-9010-2F48F9518C53}"/>
              </a:ext>
            </a:extLst>
          </p:cNvPr>
          <p:cNvSpPr>
            <a:spLocks noGrp="1"/>
          </p:cNvSpPr>
          <p:nvPr>
            <p:ph type="dt" sz="half" idx="10"/>
          </p:nvPr>
        </p:nvSpPr>
        <p:spPr/>
        <p:txBody>
          <a:bodyPr/>
          <a:lstStyle/>
          <a:p>
            <a:fld id="{F8CAC641-86BF-F640-BFF9-606C4EF4C2F6}" type="datetimeFigureOut">
              <a:rPr lang="en-US" smtClean="0"/>
              <a:t>4/27/26</a:t>
            </a:fld>
            <a:endParaRPr lang="en-US"/>
          </a:p>
        </p:txBody>
      </p:sp>
      <p:sp>
        <p:nvSpPr>
          <p:cNvPr id="4" name="Footer Placeholder 3">
            <a:extLst>
              <a:ext uri="{FF2B5EF4-FFF2-40B4-BE49-F238E27FC236}">
                <a16:creationId xmlns:a16="http://schemas.microsoft.com/office/drawing/2014/main" id="{68329E86-51C7-0F9D-469B-CA246D8F20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078669-8B68-F187-8781-728AD3E29732}"/>
              </a:ext>
            </a:extLst>
          </p:cNvPr>
          <p:cNvSpPr>
            <a:spLocks noGrp="1"/>
          </p:cNvSpPr>
          <p:nvPr>
            <p:ph type="sldNum" sz="quarter" idx="12"/>
          </p:nvPr>
        </p:nvSpPr>
        <p:spPr/>
        <p:txBody>
          <a:bodyPr/>
          <a:lstStyle/>
          <a:p>
            <a:fld id="{6C8686A4-B3E5-9B4A-A3CC-AA505A8A339B}" type="slidenum">
              <a:rPr lang="en-US" smtClean="0"/>
              <a:t>‹#›</a:t>
            </a:fld>
            <a:endParaRPr lang="en-US"/>
          </a:p>
        </p:txBody>
      </p:sp>
    </p:spTree>
    <p:extLst>
      <p:ext uri="{BB962C8B-B14F-4D97-AF65-F5344CB8AC3E}">
        <p14:creationId xmlns:p14="http://schemas.microsoft.com/office/powerpoint/2010/main" val="4176665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5C8A0B-5F1B-7576-9298-B9EF68F3F47F}"/>
              </a:ext>
            </a:extLst>
          </p:cNvPr>
          <p:cNvSpPr>
            <a:spLocks noGrp="1"/>
          </p:cNvSpPr>
          <p:nvPr>
            <p:ph type="dt" sz="half" idx="10"/>
          </p:nvPr>
        </p:nvSpPr>
        <p:spPr/>
        <p:txBody>
          <a:bodyPr/>
          <a:lstStyle/>
          <a:p>
            <a:fld id="{F8CAC641-86BF-F640-BFF9-606C4EF4C2F6}" type="datetimeFigureOut">
              <a:rPr lang="en-US" smtClean="0"/>
              <a:t>4/27/26</a:t>
            </a:fld>
            <a:endParaRPr lang="en-US"/>
          </a:p>
        </p:txBody>
      </p:sp>
      <p:sp>
        <p:nvSpPr>
          <p:cNvPr id="3" name="Footer Placeholder 2">
            <a:extLst>
              <a:ext uri="{FF2B5EF4-FFF2-40B4-BE49-F238E27FC236}">
                <a16:creationId xmlns:a16="http://schemas.microsoft.com/office/drawing/2014/main" id="{A44CFBD3-3037-A802-C75F-BC0F2B4E6F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7C587F3-D446-41F8-1B51-68B50C2570B0}"/>
              </a:ext>
            </a:extLst>
          </p:cNvPr>
          <p:cNvSpPr>
            <a:spLocks noGrp="1"/>
          </p:cNvSpPr>
          <p:nvPr>
            <p:ph type="sldNum" sz="quarter" idx="12"/>
          </p:nvPr>
        </p:nvSpPr>
        <p:spPr/>
        <p:txBody>
          <a:bodyPr/>
          <a:lstStyle/>
          <a:p>
            <a:fld id="{6C8686A4-B3E5-9B4A-A3CC-AA505A8A339B}" type="slidenum">
              <a:rPr lang="en-US" smtClean="0"/>
              <a:t>‹#›</a:t>
            </a:fld>
            <a:endParaRPr lang="en-US"/>
          </a:p>
        </p:txBody>
      </p:sp>
    </p:spTree>
    <p:extLst>
      <p:ext uri="{BB962C8B-B14F-4D97-AF65-F5344CB8AC3E}">
        <p14:creationId xmlns:p14="http://schemas.microsoft.com/office/powerpoint/2010/main" val="3148068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BCD3A-1E1D-23A0-AB64-56F800927A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6B02AA-6970-5478-EC07-14F1F9A135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76ABF7-76F0-C1F4-3FEA-D78DB33F1C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481809-C1E5-C218-A3BB-CC63E45EAE2E}"/>
              </a:ext>
            </a:extLst>
          </p:cNvPr>
          <p:cNvSpPr>
            <a:spLocks noGrp="1"/>
          </p:cNvSpPr>
          <p:nvPr>
            <p:ph type="dt" sz="half" idx="10"/>
          </p:nvPr>
        </p:nvSpPr>
        <p:spPr/>
        <p:txBody>
          <a:bodyPr/>
          <a:lstStyle/>
          <a:p>
            <a:fld id="{F8CAC641-86BF-F640-BFF9-606C4EF4C2F6}" type="datetimeFigureOut">
              <a:rPr lang="en-US" smtClean="0"/>
              <a:t>4/27/26</a:t>
            </a:fld>
            <a:endParaRPr lang="en-US"/>
          </a:p>
        </p:txBody>
      </p:sp>
      <p:sp>
        <p:nvSpPr>
          <p:cNvPr id="6" name="Footer Placeholder 5">
            <a:extLst>
              <a:ext uri="{FF2B5EF4-FFF2-40B4-BE49-F238E27FC236}">
                <a16:creationId xmlns:a16="http://schemas.microsoft.com/office/drawing/2014/main" id="{9B92F716-BCD0-4C5C-E878-AED278F3EC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8E34A7-D3CA-9702-81C0-4BE7BE0A0345}"/>
              </a:ext>
            </a:extLst>
          </p:cNvPr>
          <p:cNvSpPr>
            <a:spLocks noGrp="1"/>
          </p:cNvSpPr>
          <p:nvPr>
            <p:ph type="sldNum" sz="quarter" idx="12"/>
          </p:nvPr>
        </p:nvSpPr>
        <p:spPr/>
        <p:txBody>
          <a:bodyPr/>
          <a:lstStyle/>
          <a:p>
            <a:fld id="{6C8686A4-B3E5-9B4A-A3CC-AA505A8A339B}" type="slidenum">
              <a:rPr lang="en-US" smtClean="0"/>
              <a:t>‹#›</a:t>
            </a:fld>
            <a:endParaRPr lang="en-US"/>
          </a:p>
        </p:txBody>
      </p:sp>
    </p:spTree>
    <p:extLst>
      <p:ext uri="{BB962C8B-B14F-4D97-AF65-F5344CB8AC3E}">
        <p14:creationId xmlns:p14="http://schemas.microsoft.com/office/powerpoint/2010/main" val="4126191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71056-2F6B-2B5F-D4D1-6CC0A48815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91CF3F-A245-A210-2ED2-B1237A4CC3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64360B-6C4E-78B6-C535-CF63FAEE41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AF7FEC-C3D3-E2D1-E68D-DB2F3ABA41EA}"/>
              </a:ext>
            </a:extLst>
          </p:cNvPr>
          <p:cNvSpPr>
            <a:spLocks noGrp="1"/>
          </p:cNvSpPr>
          <p:nvPr>
            <p:ph type="dt" sz="half" idx="10"/>
          </p:nvPr>
        </p:nvSpPr>
        <p:spPr/>
        <p:txBody>
          <a:bodyPr/>
          <a:lstStyle/>
          <a:p>
            <a:fld id="{F8CAC641-86BF-F640-BFF9-606C4EF4C2F6}" type="datetimeFigureOut">
              <a:rPr lang="en-US" smtClean="0"/>
              <a:t>4/27/26</a:t>
            </a:fld>
            <a:endParaRPr lang="en-US"/>
          </a:p>
        </p:txBody>
      </p:sp>
      <p:sp>
        <p:nvSpPr>
          <p:cNvPr id="6" name="Footer Placeholder 5">
            <a:extLst>
              <a:ext uri="{FF2B5EF4-FFF2-40B4-BE49-F238E27FC236}">
                <a16:creationId xmlns:a16="http://schemas.microsoft.com/office/drawing/2014/main" id="{E75616A9-3AB9-5ABE-25EE-039C75D913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6A1B27-67D5-B8B6-FCCB-5A2317218C6B}"/>
              </a:ext>
            </a:extLst>
          </p:cNvPr>
          <p:cNvSpPr>
            <a:spLocks noGrp="1"/>
          </p:cNvSpPr>
          <p:nvPr>
            <p:ph type="sldNum" sz="quarter" idx="12"/>
          </p:nvPr>
        </p:nvSpPr>
        <p:spPr/>
        <p:txBody>
          <a:bodyPr/>
          <a:lstStyle/>
          <a:p>
            <a:fld id="{6C8686A4-B3E5-9B4A-A3CC-AA505A8A339B}" type="slidenum">
              <a:rPr lang="en-US" smtClean="0"/>
              <a:t>‹#›</a:t>
            </a:fld>
            <a:endParaRPr lang="en-US"/>
          </a:p>
        </p:txBody>
      </p:sp>
    </p:spTree>
    <p:extLst>
      <p:ext uri="{BB962C8B-B14F-4D97-AF65-F5344CB8AC3E}">
        <p14:creationId xmlns:p14="http://schemas.microsoft.com/office/powerpoint/2010/main" val="14244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7ADE3-BAC2-E012-CDA8-18FF8F929E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96ABCEF-6FA7-340F-AEAF-3CFB7D8E97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90AB45-B4C0-C5C2-C510-DE6B64F98B92}"/>
              </a:ext>
            </a:extLst>
          </p:cNvPr>
          <p:cNvSpPr>
            <a:spLocks noGrp="1"/>
          </p:cNvSpPr>
          <p:nvPr>
            <p:ph type="dt" sz="half" idx="10"/>
          </p:nvPr>
        </p:nvSpPr>
        <p:spPr/>
        <p:txBody>
          <a:bodyPr/>
          <a:lstStyle/>
          <a:p>
            <a:fld id="{F8CAC641-86BF-F640-BFF9-606C4EF4C2F6}" type="datetimeFigureOut">
              <a:rPr lang="en-US" smtClean="0"/>
              <a:t>4/27/26</a:t>
            </a:fld>
            <a:endParaRPr lang="en-US"/>
          </a:p>
        </p:txBody>
      </p:sp>
      <p:sp>
        <p:nvSpPr>
          <p:cNvPr id="5" name="Footer Placeholder 4">
            <a:extLst>
              <a:ext uri="{FF2B5EF4-FFF2-40B4-BE49-F238E27FC236}">
                <a16:creationId xmlns:a16="http://schemas.microsoft.com/office/drawing/2014/main" id="{DC794127-D4CC-8652-EDFA-5D39C6039E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73AE65-CFEF-EC25-A7D3-DB41FC7BAD95}"/>
              </a:ext>
            </a:extLst>
          </p:cNvPr>
          <p:cNvSpPr>
            <a:spLocks noGrp="1"/>
          </p:cNvSpPr>
          <p:nvPr>
            <p:ph type="sldNum" sz="quarter" idx="12"/>
          </p:nvPr>
        </p:nvSpPr>
        <p:spPr/>
        <p:txBody>
          <a:bodyPr/>
          <a:lstStyle/>
          <a:p>
            <a:fld id="{6C8686A4-B3E5-9B4A-A3CC-AA505A8A339B}" type="slidenum">
              <a:rPr lang="en-US" smtClean="0"/>
              <a:t>‹#›</a:t>
            </a:fld>
            <a:endParaRPr lang="en-US"/>
          </a:p>
        </p:txBody>
      </p:sp>
    </p:spTree>
    <p:extLst>
      <p:ext uri="{BB962C8B-B14F-4D97-AF65-F5344CB8AC3E}">
        <p14:creationId xmlns:p14="http://schemas.microsoft.com/office/powerpoint/2010/main" val="3278248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57B9E1-E99A-C92B-9903-EA1737F7A8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DCCB77-CE56-05D8-9DC5-D459FDAD34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F06F01-C283-CE72-9DB1-765E03DBC6C4}"/>
              </a:ext>
            </a:extLst>
          </p:cNvPr>
          <p:cNvSpPr>
            <a:spLocks noGrp="1"/>
          </p:cNvSpPr>
          <p:nvPr>
            <p:ph type="dt" sz="half" idx="10"/>
          </p:nvPr>
        </p:nvSpPr>
        <p:spPr/>
        <p:txBody>
          <a:bodyPr/>
          <a:lstStyle/>
          <a:p>
            <a:fld id="{F8CAC641-86BF-F640-BFF9-606C4EF4C2F6}" type="datetimeFigureOut">
              <a:rPr lang="en-US" smtClean="0"/>
              <a:t>4/27/26</a:t>
            </a:fld>
            <a:endParaRPr lang="en-US"/>
          </a:p>
        </p:txBody>
      </p:sp>
      <p:sp>
        <p:nvSpPr>
          <p:cNvPr id="5" name="Footer Placeholder 4">
            <a:extLst>
              <a:ext uri="{FF2B5EF4-FFF2-40B4-BE49-F238E27FC236}">
                <a16:creationId xmlns:a16="http://schemas.microsoft.com/office/drawing/2014/main" id="{C1A74B84-A481-2B79-B9C2-9CB9E539F0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D45B70-5A4C-B9DD-3E3F-CB09BCD53EBE}"/>
              </a:ext>
            </a:extLst>
          </p:cNvPr>
          <p:cNvSpPr>
            <a:spLocks noGrp="1"/>
          </p:cNvSpPr>
          <p:nvPr>
            <p:ph type="sldNum" sz="quarter" idx="12"/>
          </p:nvPr>
        </p:nvSpPr>
        <p:spPr/>
        <p:txBody>
          <a:bodyPr/>
          <a:lstStyle/>
          <a:p>
            <a:fld id="{6C8686A4-B3E5-9B4A-A3CC-AA505A8A339B}" type="slidenum">
              <a:rPr lang="en-US" smtClean="0"/>
              <a:t>‹#›</a:t>
            </a:fld>
            <a:endParaRPr lang="en-US"/>
          </a:p>
        </p:txBody>
      </p:sp>
    </p:spTree>
    <p:extLst>
      <p:ext uri="{BB962C8B-B14F-4D97-AF65-F5344CB8AC3E}">
        <p14:creationId xmlns:p14="http://schemas.microsoft.com/office/powerpoint/2010/main" val="2993384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79" y="219457"/>
            <a:ext cx="6370321" cy="1008871"/>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82880" y="1228329"/>
            <a:ext cx="6370320" cy="504349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54416" y="6390795"/>
            <a:ext cx="1298784" cy="338328"/>
          </a:xfrm>
        </p:spPr>
        <p:txBody>
          <a:bodyPr/>
          <a:lstStyle/>
          <a:p>
            <a:fld id="{501F6A6B-DAC2-4111-A4C8-22F3732D2683}" type="datetime1">
              <a:rPr lang="en-US" smtClean="0"/>
              <a:t>4/27/26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6553200" y="6390795"/>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hasCustomPrompt="1"/>
          </p:nvPr>
        </p:nvSpPr>
        <p:spPr>
          <a:xfrm>
            <a:off x="7505700" y="266700"/>
            <a:ext cx="4419600" cy="63246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192713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311831-DB2F-825B-20F4-3E72B4B09B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A836B64-2E0F-5B81-10D8-8C855A637E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69579D-87AC-AFC5-F2F7-2AB631863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CAC641-86BF-F640-BFF9-606C4EF4C2F6}" type="datetimeFigureOut">
              <a:rPr lang="en-US" smtClean="0"/>
              <a:t>4/27/26</a:t>
            </a:fld>
            <a:endParaRPr lang="en-US"/>
          </a:p>
        </p:txBody>
      </p:sp>
      <p:sp>
        <p:nvSpPr>
          <p:cNvPr id="5" name="Footer Placeholder 4">
            <a:extLst>
              <a:ext uri="{FF2B5EF4-FFF2-40B4-BE49-F238E27FC236}">
                <a16:creationId xmlns:a16="http://schemas.microsoft.com/office/drawing/2014/main" id="{CC817B34-534C-87C0-2E76-2036070469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29A66F2-F5E1-DFB0-DA21-2BABB63E35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8686A4-B3E5-9B4A-A3CC-AA505A8A339B}" type="slidenum">
              <a:rPr lang="en-US" smtClean="0"/>
              <a:t>‹#›</a:t>
            </a:fld>
            <a:endParaRPr lang="en-US"/>
          </a:p>
        </p:txBody>
      </p:sp>
    </p:spTree>
    <p:extLst>
      <p:ext uri="{BB962C8B-B14F-4D97-AF65-F5344CB8AC3E}">
        <p14:creationId xmlns:p14="http://schemas.microsoft.com/office/powerpoint/2010/main" val="2339979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24D98-9FAD-2A2A-47B1-CF459E23AFD6}"/>
              </a:ext>
            </a:extLst>
          </p:cNvPr>
          <p:cNvSpPr>
            <a:spLocks noGrp="1"/>
          </p:cNvSpPr>
          <p:nvPr>
            <p:ph type="ctrTitle"/>
          </p:nvPr>
        </p:nvSpPr>
        <p:spPr/>
        <p:txBody>
          <a:bodyPr/>
          <a:lstStyle/>
          <a:p>
            <a:r>
              <a:rPr lang="en-US" dirty="0"/>
              <a:t>Team - 8</a:t>
            </a:r>
          </a:p>
        </p:txBody>
      </p:sp>
      <p:sp>
        <p:nvSpPr>
          <p:cNvPr id="3" name="Subtitle 2">
            <a:extLst>
              <a:ext uri="{FF2B5EF4-FFF2-40B4-BE49-F238E27FC236}">
                <a16:creationId xmlns:a16="http://schemas.microsoft.com/office/drawing/2014/main" id="{E81AFD5E-0273-3846-7F0C-E218F4371859}"/>
              </a:ext>
            </a:extLst>
          </p:cNvPr>
          <p:cNvSpPr>
            <a:spLocks noGrp="1"/>
          </p:cNvSpPr>
          <p:nvPr>
            <p:ph type="subTitle" idx="1"/>
          </p:nvPr>
        </p:nvSpPr>
        <p:spPr/>
        <p:txBody>
          <a:bodyPr>
            <a:normAutofit/>
          </a:bodyPr>
          <a:lstStyle/>
          <a:p>
            <a:r>
              <a:rPr lang="en-US" sz="8000" dirty="0"/>
              <a:t>Chat EDI</a:t>
            </a:r>
          </a:p>
        </p:txBody>
      </p:sp>
    </p:spTree>
    <p:extLst>
      <p:ext uri="{BB962C8B-B14F-4D97-AF65-F5344CB8AC3E}">
        <p14:creationId xmlns:p14="http://schemas.microsoft.com/office/powerpoint/2010/main" val="2000862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29EE7-C5D1-D91C-6978-9A0AF8B659AC}"/>
              </a:ext>
            </a:extLst>
          </p:cNvPr>
          <p:cNvSpPr>
            <a:spLocks noGrp="1"/>
          </p:cNvSpPr>
          <p:nvPr>
            <p:ph type="title"/>
          </p:nvPr>
        </p:nvSpPr>
        <p:spPr>
          <a:xfrm>
            <a:off x="182879" y="219457"/>
            <a:ext cx="6370321" cy="1008871"/>
          </a:xfrm>
        </p:spPr>
        <p:txBody>
          <a:bodyPr vert="horz" lIns="91440" tIns="45720" rIns="91440" bIns="45720" rtlCol="0" anchor="t">
            <a:normAutofit fontScale="90000"/>
          </a:bodyPr>
          <a:lstStyle/>
          <a:p>
            <a:r>
              <a:rPr lang="en-US" b="0" kern="1200" spc="-100" baseline="0">
                <a:latin typeface="+mj-lt"/>
                <a:ea typeface="+mj-ea"/>
                <a:cs typeface="+mj-cs"/>
              </a:rPr>
              <a:t>Operational Challenges with InterSystems Event Logs</a:t>
            </a:r>
          </a:p>
        </p:txBody>
      </p:sp>
      <p:sp>
        <p:nvSpPr>
          <p:cNvPr id="5" name="TextBox 4">
            <a:extLst>
              <a:ext uri="{FF2B5EF4-FFF2-40B4-BE49-F238E27FC236}">
                <a16:creationId xmlns:a16="http://schemas.microsoft.com/office/drawing/2014/main" id="{9EB173F0-EE28-4CFF-9A5D-914C578868C7}"/>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82880" y="1228329"/>
            <a:ext cx="6370320" cy="504349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Volume and Complexity of Logs</a:t>
            </a:r>
          </a:p>
          <a:p>
            <a:pPr marL="0" lvl="1" indent="0">
              <a:spcBef>
                <a:spcPts val="1000"/>
              </a:spcBef>
              <a:spcAft>
                <a:spcPts val="600"/>
              </a:spcAft>
              <a:buFont typeface="Arial" panose="020B0604020202020204" pitchFamily="34" charset="0"/>
              <a:buNone/>
            </a:pPr>
            <a:r>
              <a:rPr lang="en-US" sz="1400"/>
              <a:t>InterSystems platforms produce vast, detailed logs that are difficult to analyze manually and require specialized expertise.</a:t>
            </a:r>
          </a:p>
          <a:p>
            <a:pPr marL="0" indent="0">
              <a:spcBef>
                <a:spcPts val="2500"/>
              </a:spcBef>
              <a:spcAft>
                <a:spcPts val="600"/>
              </a:spcAft>
              <a:buFont typeface="Arial" panose="020B0604020202020204" pitchFamily="34" charset="0"/>
              <a:buNone/>
            </a:pPr>
            <a:r>
              <a:rPr lang="en-US" sz="1400" b="1"/>
              <a:t>Impact on Incident Resolution</a:t>
            </a:r>
          </a:p>
          <a:p>
            <a:pPr marL="0" lvl="1" indent="0">
              <a:spcBef>
                <a:spcPts val="1000"/>
              </a:spcBef>
              <a:spcAft>
                <a:spcPts val="600"/>
              </a:spcAft>
              <a:buFont typeface="Arial" panose="020B0604020202020204" pitchFamily="34" charset="0"/>
              <a:buNone/>
            </a:pPr>
            <a:r>
              <a:rPr lang="en-US" sz="1400"/>
              <a:t>Verbose and distributed logs increase mean time to detect and resolve incidents, affecting business continuity.</a:t>
            </a:r>
          </a:p>
          <a:p>
            <a:pPr marL="0" indent="0">
              <a:spcBef>
                <a:spcPts val="2500"/>
              </a:spcBef>
              <a:spcAft>
                <a:spcPts val="600"/>
              </a:spcAft>
              <a:buFont typeface="Arial" panose="020B0604020202020204" pitchFamily="34" charset="0"/>
              <a:buNone/>
            </a:pPr>
            <a:r>
              <a:rPr lang="en-US" sz="1400" b="1"/>
              <a:t>Limitations of Traditional Tools</a:t>
            </a:r>
          </a:p>
          <a:p>
            <a:pPr marL="0" lvl="1" indent="0">
              <a:spcBef>
                <a:spcPts val="1000"/>
              </a:spcBef>
              <a:spcAft>
                <a:spcPts val="600"/>
              </a:spcAft>
              <a:buFont typeface="Arial" panose="020B0604020202020204" pitchFamily="34" charset="0"/>
              <a:buNone/>
            </a:pPr>
            <a:r>
              <a:rPr lang="en-US" sz="1400"/>
              <a:t>Current monitoring tools focus on alerts, requiring users to switch between multiple interfaces and limiting efficiency.</a:t>
            </a:r>
          </a:p>
          <a:p>
            <a:pPr marL="0" indent="0">
              <a:spcBef>
                <a:spcPts val="2500"/>
              </a:spcBef>
              <a:spcAft>
                <a:spcPts val="600"/>
              </a:spcAft>
              <a:buFont typeface="Arial" panose="020B0604020202020204" pitchFamily="34" charset="0"/>
              <a:buNone/>
            </a:pPr>
            <a:r>
              <a:rPr lang="en-US" sz="1400" b="1"/>
              <a:t>Need for Conversational Interface</a:t>
            </a:r>
          </a:p>
          <a:p>
            <a:pPr marL="0" lvl="1" indent="0">
              <a:spcBef>
                <a:spcPts val="1000"/>
              </a:spcBef>
              <a:spcAft>
                <a:spcPts val="600"/>
              </a:spcAft>
              <a:buFont typeface="Arial" panose="020B0604020202020204" pitchFamily="34" charset="0"/>
              <a:buNone/>
            </a:pPr>
            <a:r>
              <a:rPr lang="en-US" sz="1400"/>
              <a:t>An intelligent, natural language interface can simplify log analysis and enable faster corrective actions without deep expertise.</a:t>
            </a:r>
          </a:p>
        </p:txBody>
      </p:sp>
      <p:pic>
        <p:nvPicPr>
          <p:cNvPr id="4" name="Content Placeholder 3" descr="Continent - Geographic Area, 4K Resolution, Abstract, Animation - Moving Image, Binary Code">
            <a:extLst>
              <a:ext uri="{FF2B5EF4-FFF2-40B4-BE49-F238E27FC236}">
                <a16:creationId xmlns:a16="http://schemas.microsoft.com/office/drawing/2014/main" id="{A296E0F7-9CE5-4EEF-8CF0-02EE08AF49B5}"/>
              </a:ext>
            </a:extLst>
          </p:cNvPr>
          <p:cNvPicPr>
            <a:picLocks noGrp="1" noChangeAspect="1"/>
          </p:cNvPicPr>
          <p:nvPr>
            <p:ph type="pic" sz="quarter" idx="13"/>
          </p:nvPr>
        </p:nvPicPr>
        <p:blipFill>
          <a:blip r:embed="rId3"/>
          <a:srcRect l="20661" r="40032" b="-1"/>
          <a:stretch>
            <a:fillRect/>
          </a:stretch>
        </p:blipFill>
        <p:spPr>
          <a:xfrm>
            <a:off x="7505700" y="266700"/>
            <a:ext cx="4419600" cy="6324600"/>
          </a:xfrm>
        </p:spPr>
      </p:pic>
    </p:spTree>
    <p:extLst>
      <p:ext uri="{BB962C8B-B14F-4D97-AF65-F5344CB8AC3E}">
        <p14:creationId xmlns:p14="http://schemas.microsoft.com/office/powerpoint/2010/main" val="13619480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323</Words>
  <Application>Microsoft Macintosh PowerPoint</Application>
  <PresentationFormat>Widescreen</PresentationFormat>
  <Paragraphs>13</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Team - 8</vt:lpstr>
      <vt:lpstr>Operational Challenges with InterSystems Event Logs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sudhir Sinha</dc:creator>
  <cp:lastModifiedBy>sudhir Sinha</cp:lastModifiedBy>
  <cp:revision>1</cp:revision>
  <dcterms:created xsi:type="dcterms:W3CDTF">2026-04-27T17:12:40Z</dcterms:created>
  <dcterms:modified xsi:type="dcterms:W3CDTF">2026-04-27T17:17:19Z</dcterms:modified>
</cp:coreProperties>
</file>